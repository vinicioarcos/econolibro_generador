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Capítulo 03. Teoría del cambio, mecanismos e indicadores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Políticas Públicas Basadas en Datos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Pregunta guia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¿Cómo se conecta un problema público con una intervención, un mecanismo esperado y un conjunto de indicadores que permitan aprender sin prometer causalidad no identificada?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Resultados de aprendizaje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Diferenciar insumos, actividades, productos, resultados intermedios y resultados finales.</a:t>
            </a:r>
          </a:p>
          <a:p>
            <a:pPr lvl="0"/>
            <a:r>
              <a:rPr/>
              <a:t>Formular mecanismos de cambio compatibles con teoría económica e institucional.</a:t>
            </a:r>
          </a:p>
          <a:p>
            <a:pPr lvl="0"/>
            <a:r>
              <a:rPr/>
              <a:t>Diseñar indicadores trazables para cada eslabón de una teoría del cambio.</a:t>
            </a:r>
          </a:p>
          <a:p>
            <a:pPr lvl="0"/>
            <a:r>
              <a:rPr/>
              <a:t>Distinguir indicadores de monitoreo, diagnóstico y evaluación causal.</a:t>
            </a:r>
          </a:p>
          <a:p>
            <a:pPr lvl="0"/>
            <a:r>
              <a:rPr/>
              <a:t>Implementar en Python una matriz reproducible de teoría del cambio e indicadores.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Conceptos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Teoría del cambio.</a:t>
            </a:r>
          </a:p>
          <a:p>
            <a:pPr lvl="0"/>
            <a:r>
              <a:rPr/>
              <a:t>Cadena de resultados.</a:t>
            </a:r>
          </a:p>
          <a:p>
            <a:pPr lvl="0"/>
            <a:r>
              <a:rPr/>
              <a:t>Mecanismo.</a:t>
            </a:r>
          </a:p>
          <a:p>
            <a:pPr lvl="0"/>
            <a:r>
              <a:rPr/>
              <a:t>Supuesto.</a:t>
            </a:r>
          </a:p>
          <a:p>
            <a:pPr lvl="0"/>
            <a:r>
              <a:rPr/>
              <a:t>Indicador.</a:t>
            </a:r>
          </a:p>
          <a:p>
            <a:pPr lvl="0"/>
            <a:r>
              <a:rPr/>
              <a:t>Línea base.</a:t>
            </a:r>
          </a:p>
          <a:p>
            <a:pPr lvl="0"/>
            <a:r>
              <a:rPr/>
              <a:t>Meta.</a:t>
            </a:r>
          </a:p>
          <a:p>
            <a:pPr lvl="0"/>
            <a:r>
              <a:rPr/>
              <a:t>Medio de verificación.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Intuicion economica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Una política pública intenta modificar restricciones, incentivos, información o capacidades.</a:t>
            </a:r>
          </a:p>
          <a:p>
            <a:pPr lvl="0"/>
            <a:r>
              <a:rPr/>
              <a:t>Cada intervención opera por un mecanismo distinto.</a:t>
            </a:r>
          </a:p>
          <a:p>
            <a:pPr lvl="0"/>
            <a:r>
              <a:rPr/>
              <a:t>La teoría del cambio explicita esa lógica.</a:t>
            </a:r>
          </a:p>
          <a:p>
            <a:pPr lvl="0"/>
            <a:r>
              <a:rPr/>
              <a:t>Si el mecanismo no es plausible, el indicador puede mejorar por razones ajenas a la política o no cambiar aunque la implementación haya sido intensa.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Datos y trazabilidad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El cuaderno del capítulo usa datos simulados sobre un programa ficticio de retención escolar.</a:t>
            </a:r>
          </a:p>
          <a:p>
            <a:pPr lvl="0"/>
            <a:r>
              <a:rPr/>
              <a:t>No se usan datos reales de estudiantes, hogares ni instituciones.</a:t>
            </a:r>
          </a:p>
          <a:p>
            <a:pPr lvl="0"/>
            <a:r>
              <a:rPr/>
              <a:t>Para una aplicación real se requiere autorización, diccionario de variables, revisión de confidencialidad, reglas de acceso y validación con la entidad responsable.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Graficos del capitulo</a:t>
            </a:r>
          </a:p>
        </p:txBody>
      </p:sp>
      <p:pic>
        <p:nvPicPr>
          <p:cNvPr descr="../../../../books/politicas_publicas_basadas_en_datos/outputs/figures/chapter_03_avance_indicadore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082800" y="1193800"/>
            <a:ext cx="4991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Chapter 03 Avance Indicadores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Flujo en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crea una matriz de teoría del cambio para un programa ficticio;</a:t>
            </a:r>
          </a:p>
          <a:p>
            <a:pPr lvl="0"/>
            <a:r>
              <a:rPr/>
              <a:t>define indicadores por eslabón, fuente potencial y frecuencia;</a:t>
            </a:r>
          </a:p>
          <a:p>
            <a:pPr lvl="0"/>
            <a:r>
              <a:rPr/>
              <a:t>calcula brechas entre valor observado y meta;</a:t>
            </a:r>
          </a:p>
          <a:p>
            <a:pPr lvl="0"/>
            <a:r>
              <a:rPr/>
              <a:t>clasifica el estado de cada indicador;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Interpretacion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La matriz permite revisar si cada indicador responde a una pregunta de política.</a:t>
            </a:r>
          </a:p>
          <a:p>
            <a:pPr lvl="0"/>
            <a:r>
              <a:rPr/>
              <a:t>Un indicador de producto, como número de tutorías realizadas, informa esfuerzo operativo.</a:t>
            </a:r>
          </a:p>
          <a:p>
            <a:pPr lvl="0"/>
            <a:r>
              <a:rPr/>
              <a:t>Un indicador de resultado intermedio, como asistencia mensual, aproxima un comportamiento que la intervención espera modificar.</a:t>
            </a:r>
          </a:p>
          <a:p>
            <a:pPr lvl="0"/>
            <a:r>
              <a:rPr/>
              <a:t>Un resultado final, como permanencia escolar, requiere más tiempo, mejor diseño de medición y posiblemente una estrategia de evaluación.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Errores frecuentes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Confundir productos con resultados finales.</a:t>
            </a:r>
          </a:p>
          <a:p>
            <a:pPr lvl="0"/>
            <a:r>
              <a:rPr/>
              <a:t>Formular indicadores sin unidad de análisis ni periodo.</a:t>
            </a:r>
          </a:p>
          <a:p>
            <a:pPr lvl="0"/>
            <a:r>
              <a:rPr/>
              <a:t>Medir solo actividades porque son más fáciles de contar.</a:t>
            </a:r>
          </a:p>
          <a:p>
            <a:pPr lvl="0"/>
            <a:r>
              <a:rPr/>
              <a:t>Declarar metas sin línea base o sin fuente verificable.</a:t>
            </a:r>
          </a:p>
          <a:p>
            <a:pPr lvl="0"/>
            <a:r>
              <a:rPr/>
              <a:t>Usar la teoría del cambio como decoración narrativa.</a:t>
            </a:r>
          </a:p>
          <a:p>
            <a:pPr lvl="0"/>
            <a:r>
              <a:rPr/>
              <a:t>No declarar supuestos críticos de implementación.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Actividad de clase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Seleccione un problema público y construya una teoría del cambio de una página.</a:t>
            </a:r>
          </a:p>
          <a:p>
            <a:pPr lvl="0"/>
            <a:r>
              <a:rPr/>
              <a:t>Incluya población objetivo, mecanismo, cadena de resultados, tres indicadores, fuente potencial, frecuencia de medición y una advertencia causal.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Cierre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Una teoría del cambio conecta problema, intervención, mecanismo e indicadores.</a:t>
            </a:r>
          </a:p>
          <a:p>
            <a:pPr lvl="0"/>
            <a:r>
              <a:rPr/>
              <a:t>Su valor no está en adornar un informe, sino en hacer verificables los supuestos que sostienen una decisión pública.</a:t>
            </a:r>
          </a:p>
          <a:p>
            <a:pPr lvl="0"/>
            <a:r>
              <a:rPr/>
              <a:t>Los indicadores permiten monitorear la cadena, pero no prueban impacto causal sin un diseño de evaluación apropiado.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Capítulo 03. Teoría del cambio, mecanismos e indicadores</dc:title>
  <dc:creator/>
  <cp:keywords/>
  <dcterms:created xsi:type="dcterms:W3CDTF">2026-05-07T16:57:43Z</dcterms:created>
  <dcterms:modified xsi:type="dcterms:W3CDTF">2026-05-07T16:57:43Z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xecute">
    <vt:lpwstr/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Políticas Públicas Basadas en Datos</vt:lpwstr>
  </property>
  <property fmtid="{D5CDD505-2E9C-101B-9397-08002B2CF9AE}" pid="9" name="toc-title">
    <vt:lpwstr>Tabla de contenidos</vt:lpwstr>
  </property>
</Properties>
</file>